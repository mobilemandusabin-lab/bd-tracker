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22"/>
    <p:sldId id="263" r:id="rId11"/>
    <p:sldId id="264" r:id="rId23"/>
    <p:sldId id="265" r:id="rId24"/>
    <p:sldId id="266" r:id="rId12"/>
    <p:sldId id="267" r:id="rId13"/>
  </p:sldIdLst>
  <p:sldSz cy="6858000" cx="12192000"/>
  <p:notesSz cx="6858000" cy="12192000"/>
  <p:embeddedFontLst>
    <p:embeddedFont>
      <p:font typeface="Play"/>
      <p:regular r:id="rId14"/>
      <p:bold r:id="rId15"/>
    </p:embeddedFont>
    <p:embeddedFont>
      <p:font typeface="Quattrocento Sans"/>
      <p:bold r:id="rId16"/>
      <p:boldItalic r:id="rId17"/>
    </p:embeddedFont>
    <p:embeddedFont>
      <p:font typeface="Ex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xo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Ex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7" Type="http://schemas.openxmlformats.org/officeDocument/2006/relationships/font" Target="fonts/QuattrocentoSans-boldItalic.fntdata"/><Relationship Id="rId16" Type="http://schemas.openxmlformats.org/officeDocument/2006/relationships/font" Target="fonts/QuattrocentoSans-bold.fntdata"/><Relationship Id="rId5" Type="http://schemas.openxmlformats.org/officeDocument/2006/relationships/slide" Target="slides/slide1.xml"/><Relationship Id="rId19" Type="http://schemas.openxmlformats.org/officeDocument/2006/relationships/font" Target="fonts/Exo-bold.fntdata"/><Relationship Id="rId6" Type="http://schemas.openxmlformats.org/officeDocument/2006/relationships/slide" Target="slides/slide2.xml"/><Relationship Id="rId18" Type="http://schemas.openxmlformats.org/officeDocument/2006/relationships/font" Target="fonts/Ex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_qc.png"/><Relationship Id="rId4" Type="http://schemas.openxmlformats.org/officeDocument/2006/relationships/image" Target="../media/image2_qc.png"/><Relationship Id="rId5" Type="http://schemas.openxmlformats.org/officeDocument/2006/relationships/image" Target="../media/image3_qc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274320" y="274320"/>
            <a:ext cx="11640312" cy="2926080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274320" y="3200400"/>
            <a:ext cx="11640312" cy="3383280"/>
          </a:xfrm>
          <a:prstGeom prst="rect">
            <a:avLst/>
          </a:prstGeom>
          <a:solidFill>
            <a:srgbClr val="F6F6F8"/>
          </a:solidFill>
          <a:ln cap="flat" cmpd="sng" w="12700">
            <a:solidFill>
              <a:srgbClr val="F6F6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" name="Google Shape;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" y="7315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274320" y="1097280"/>
            <a:ext cx="116403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Quattrocento San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Nepalcan.com-Weekly Review</a:t>
            </a:r>
            <a:endParaRPr b="0" i="0" sz="3800" u="none" cap="none" strike="noStrike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274320" y="2011680"/>
            <a:ext cx="11640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Department-Wise Performance Analysis</a:t>
            </a:r>
            <a:endParaRPr b="0" i="0" sz="2600" u="none" cap="none" strike="noStrike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274320" y="2395728"/>
            <a:ext cx="11640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CF1"/>
              </a:buClr>
              <a:buSzPts val="1400"/>
              <a:buFont typeface="Exo"/>
              <a:buNone/>
            </a:pPr>
            <a:r>
              <a:rPr b="0" i="0" lang="en-US" sz="1400" u="none" cap="none" strike="noStrike">
                <a:solidFill>
                  <a:srgbClr val="FCECF1"/>
                </a:solidFill>
                <a:latin typeface="Exo"/>
                <a:ea typeface="Exo"/>
                <a:cs typeface="Exo"/>
                <a:sym typeface="Exo"/>
              </a:rPr>
              <a:t>23 Jestha 2083 - 29 Jestha 2083 (June 5, 2026 - June 12, 2026)</a:t>
            </a:r>
            <a:endParaRPr b="0" i="0" sz="1400" u="none" cap="none" strike="noStrike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274320" y="4279392"/>
            <a:ext cx="11640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Executive Brief</a:t>
            </a:r>
            <a:endParaRPr b="0" i="0" sz="3200" u="none" cap="none" strike="noStrike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709160" y="5486400"/>
            <a:ext cx="2788920" cy="658368"/>
          </a:xfrm>
          <a:prstGeom prst="roundRect">
            <a:avLst>
              <a:gd fmla="val 16667" name="adj"/>
            </a:avLst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" name="Google Shape;2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3841" y="5641848"/>
            <a:ext cx="1839558" cy="32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BUSINESS DEVELOPMENT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365760" y="932688"/>
            <a:ext cx="3794760" cy="5303520"/>
          </a:xfrm>
          <a:prstGeom prst="rect">
            <a:avLst/>
          </a:prstGeom>
          <a:solidFill>
            <a:srgbClr val="F4F4F6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65760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65760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PREVIOUS Week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94360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813816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Vendors: 350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94360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13816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Verified Vendors: 140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99173" y="2175309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18629" y="2184453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Vendors Added: —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361688" y="932688"/>
            <a:ext cx="3794760" cy="5303520"/>
          </a:xfrm>
          <a:prstGeom prst="rect">
            <a:avLst/>
          </a:prstGeom>
          <a:solidFill>
            <a:srgbClr val="F5ECEF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361688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361688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CURRENT STATUS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90288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809744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Vendors: 398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590288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809744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Verified Vendors: 169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90288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809744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10 vendors with less than 10 products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90288" y="2441448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809744" y="245059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Vendors Added: —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8357616" y="932688"/>
            <a:ext cx="3794760" cy="5303520"/>
          </a:xfrm>
          <a:prstGeom prst="rect">
            <a:avLst/>
          </a:prstGeom>
          <a:solidFill>
            <a:srgbClr val="F4F4F6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8357616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8357616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NEXT WEEK TARGET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586216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805672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Vendors: 425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8586216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8805672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Verified Vendors: 185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586216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805672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Vendors with less than 10 products: 7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8586216" y="2441448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8805672" y="245059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Vendors Added: —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23 Jestha 2083 - 29 Jestha 2083 (June 5, 2026 - June 12, 2026)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6420689" y="1706208"/>
            <a:ext cx="5348177" cy="4128439"/>
          </a:xfrm>
          <a:prstGeom prst="roundRect">
            <a:avLst>
              <a:gd fmla="val 935" name="adj"/>
            </a:avLst>
          </a:prstGeom>
          <a:solidFill>
            <a:srgbClr val="F5F5F7"/>
          </a:solidFill>
          <a:ln cap="flat" cmpd="sng" w="12700">
            <a:solidFill>
              <a:srgbClr val="D6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BUSINESS DEVELOPMENT - PROGRESS CHART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71" name="Google Shape;7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457200" y="1706208"/>
            <a:ext cx="5811089" cy="4128439"/>
          </a:xfrm>
          <a:prstGeom prst="roundRect">
            <a:avLst>
              <a:gd fmla="val 935" name="adj"/>
            </a:avLst>
          </a:prstGeom>
          <a:solidFill>
            <a:srgbClr val="F5F5F7"/>
          </a:solidFill>
          <a:ln cap="flat" cmpd="sng" w="12700">
            <a:solidFill>
              <a:srgbClr val="D6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66928" y="1902727"/>
            <a:ext cx="67116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1531"/>
              </a:buClr>
              <a:buSzPts val="1300"/>
              <a:buFont typeface="Play"/>
              <a:buNone/>
            </a:pPr>
            <a:r>
              <a:rPr b="1" lang="en-US" sz="1300">
                <a:solidFill>
                  <a:srgbClr val="B41531"/>
                </a:solidFill>
                <a:latin typeface="Play"/>
                <a:ea typeface="Play"/>
                <a:cs typeface="Play"/>
                <a:sym typeface="Play"/>
              </a:rPr>
              <a:t/>
            </a:r>
            <a:endParaRPr sz="13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74" name="Google Shape;7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824770"/>
            <a:ext cx="600922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23 Jestha 2083 - 29 Jestha 2083 (June 5, 2026 - June 12, 2026)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78" name="Google Shape;7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0700" y="1866850"/>
            <a:ext cx="5771300" cy="39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 txBox="1"/>
          <p:nvPr/>
        </p:nvSpPr>
        <p:spPr>
          <a:xfrm>
            <a:off x="6718025" y="1902725"/>
            <a:ext cx="20871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B91C1C"/>
                </a:solidFill>
                <a:latin typeface="Play"/>
                <a:ea typeface="Play"/>
                <a:cs typeface="Play"/>
                <a:sym typeface="Play"/>
              </a:rPr>
              <a:t/>
            </a:r>
            <a:endParaRPr b="1" sz="1300">
              <a:solidFill>
                <a:srgbClr val="B91C1C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8778240" y="960120"/>
            <a:ext cx="4206240" cy="2651760"/>
          </a:xfrm>
          <a:prstGeom prst="roundRect">
            <a:avLst>
              <a:gd fmla="val 16667" name="adj"/>
            </a:avLst>
          </a:prstGeom>
          <a:solidFill>
            <a:srgbClr val="FDE8EE">
              <a:alpha val="65882"/>
            </a:srgbClr>
          </a:solidFill>
          <a:ln cap="flat" cmpd="sng" w="12700">
            <a:solidFill>
              <a:srgbClr val="FDE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-594360" y="4343400"/>
            <a:ext cx="3840480" cy="2560320"/>
          </a:xfrm>
          <a:prstGeom prst="roundRect">
            <a:avLst>
              <a:gd fmla="val 16667" name="adj"/>
            </a:avLst>
          </a:prstGeom>
          <a:solidFill>
            <a:srgbClr val="E9EEF9">
              <a:alpha val="63921"/>
            </a:srgbClr>
          </a:solidFill>
          <a:ln cap="flat" cmpd="sng" w="12700">
            <a:solidFill>
              <a:srgbClr val="E9EE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566928" y="16459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Business Development Report</a:t>
            </a:r>
            <a:endParaRPr sz="18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89" name="Google Shape;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9529" y="128016"/>
            <a:ext cx="2554941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/>
          <p:nvPr/>
        </p:nvSpPr>
        <p:spPr>
          <a:xfrm>
            <a:off x="0" y="713232"/>
            <a:ext cx="12191695" cy="5641848"/>
          </a:xfrm>
          <a:prstGeom prst="rect">
            <a:avLst/>
          </a:prstGeom>
          <a:solidFill>
            <a:srgbClr val="FCFDFF"/>
          </a:solidFill>
          <a:ln cap="flat" cmpd="sng" w="12700">
            <a:solidFill>
              <a:srgbClr val="FCF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20605" y="946408"/>
            <a:ext cx="11375100" cy="5047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AF2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• We were busy in collecting the brands names.
• we wont be doing this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23 Jestha 2083 - 29 Jestha 2083 (June 5, 2026 - June 12, 2026)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LISTING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102" name="Google Shape;1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/>
          <p:nvPr/>
        </p:nvSpPr>
        <p:spPr>
          <a:xfrm>
            <a:off x="365760" y="932688"/>
            <a:ext cx="3794760" cy="5303520"/>
          </a:xfrm>
          <a:prstGeom prst="rect">
            <a:avLst/>
          </a:prstGeom>
          <a:solidFill>
            <a:srgbClr val="F4F4F6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365760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365760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PREVIOUS Week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94360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813816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Marketplace Products: 55,000;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813816" y="179222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94360" y="2075688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813816" y="208483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Daily Average Listings: 200/day;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813816" y="230428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94360" y="258775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813816" y="259689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Backlog (Products): 1,200 products;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813816" y="281635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94360" y="3099816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813816" y="3108960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Products Shown in Marketplace: 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813816" y="332841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94360" y="361188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813816" y="362102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Specifications Added: 200;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813816" y="3840480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94360" y="412394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813816" y="413308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Specification Completion %: 10;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813816" y="435254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361688" y="932688"/>
            <a:ext cx="3794760" cy="5303520"/>
          </a:xfrm>
          <a:prstGeom prst="rect">
            <a:avLst/>
          </a:prstGeom>
          <a:solidFill>
            <a:srgbClr val="F5ECEF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361688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4361688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CURRENT STATUS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590288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809744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Marketplace Products: 69,633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590288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809744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Daily Average Listings: 225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590288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809744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Backlog (Products): 15,000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590288" y="2441448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809744" y="245059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Products Shown in Marketplace: —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590288" y="2734056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809744" y="2743200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Specifications Added: 394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590288" y="302666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809744" y="303580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Specification Completion %: 11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590288" y="331927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809744" y="332841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809744" y="354787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809744" y="376732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590288" y="405079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809744" y="405993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809744" y="427939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809744" y="449884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809744" y="471830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8357616" y="932688"/>
            <a:ext cx="3794760" cy="5303520"/>
          </a:xfrm>
          <a:prstGeom prst="rect">
            <a:avLst/>
          </a:prstGeom>
          <a:solidFill>
            <a:srgbClr val="F4F4F6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8357616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8357616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NEXT WEEK TARGET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8586216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8805672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Marketplace Products: 72,000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8586216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8805672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Daily Average Listings: 500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8586216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8805672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Products Shown in Marketplace: —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8586216" y="2441448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8805672" y="245059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Specifications Added: 500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586216" y="2734056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/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8805672" y="2743200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Specification Completion %: 14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23 Jestha 2083 - 29 Jestha 2083 (June 5, 2026 - June 12, 2026)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LISTING - PROGRESS CHARTS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171" name="Google Shape;1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/>
          <p:nvPr/>
        </p:nvSpPr>
        <p:spPr>
          <a:xfrm>
            <a:off x="411480" y="1078992"/>
            <a:ext cx="5943600" cy="4480560"/>
          </a:xfrm>
          <a:prstGeom prst="rect">
            <a:avLst/>
          </a:prstGeom>
          <a:solidFill>
            <a:srgbClr val="F5F5F7"/>
          </a:solidFill>
          <a:ln cap="flat" cmpd="sng" w="12700">
            <a:solidFill>
              <a:srgbClr val="DFE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1920240" y="12801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1531"/>
              </a:buClr>
              <a:buSzPts val="1700"/>
              <a:buFont typeface="Play"/>
              <a:buNone/>
            </a:pPr>
            <a:r>
              <a:rPr b="1" lang="en-US" sz="1700">
                <a:solidFill>
                  <a:srgbClr val="B41531"/>
                </a:solidFill>
                <a:latin typeface="Play"/>
                <a:ea typeface="Play"/>
                <a:cs typeface="Play"/>
                <a:sym typeface="Play"/>
              </a:rPr>
              <a:t>Total Products Shown in Marketplace Trend</a:t>
            </a:r>
            <a:endParaRPr sz="17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174" name="Google Shape;1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232" y="1600200"/>
            <a:ext cx="5486400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6537960" y="1078992"/>
            <a:ext cx="5257800" cy="4480560"/>
          </a:xfrm>
          <a:prstGeom prst="rect">
            <a:avLst/>
          </a:prstGeom>
          <a:solidFill>
            <a:srgbClr val="F5F5F7"/>
          </a:solidFill>
          <a:ln cap="flat" cmpd="sng" w="12700">
            <a:solidFill>
              <a:srgbClr val="DFE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7680960" y="12801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1531"/>
              </a:buClr>
              <a:buSzPts val="1700"/>
              <a:buFont typeface="Play"/>
              <a:buNone/>
            </a:pPr>
            <a:r>
              <a:rPr b="1" lang="en-US" sz="1700">
                <a:solidFill>
                  <a:srgbClr val="B41531"/>
                </a:solidFill>
                <a:latin typeface="Play"/>
                <a:ea typeface="Play"/>
                <a:cs typeface="Play"/>
                <a:sym typeface="Play"/>
              </a:rPr>
              <a:t>Total Specifications Added Trend</a:t>
            </a:r>
            <a:endParaRPr sz="17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177" name="Google Shape;17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2280" y="1600200"/>
            <a:ext cx="4754880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/>
          <p:nvPr/>
        </p:nvSpPr>
        <p:spPr>
          <a:xfrm>
            <a:off x="6537960" y="1078992"/>
            <a:ext cx="5257800" cy="4480560"/>
          </a:xfrm>
          <a:prstGeom prst="rect">
            <a:avLst/>
          </a:prstGeom>
          <a:solidFill>
            <a:srgbClr val="F5F5F7"/>
          </a:solidFill>
          <a:ln cap="flat" cmpd="sng" w="12700">
            <a:solidFill>
              <a:srgbClr val="DFE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7680960" y="12801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1531"/>
              </a:buClr>
              <a:buSzPts val="1700"/>
              <a:buFont typeface="Play"/>
              <a:buNone/>
            </a:pPr>
            <a:r>
              <a:rPr b="1" lang="en-US" sz="1700">
                <a:solidFill>
                  <a:srgbClr val="B41531"/>
                </a:solidFill>
                <a:latin typeface="Play"/>
                <a:ea typeface="Play"/>
                <a:cs typeface="Play"/>
                <a:sym typeface="Play"/>
              </a:rPr>
              <a:t>Specification Completion % Trend</a:t>
            </a:r>
            <a:endParaRPr sz="17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365760" y="5696712"/>
            <a:ext cx="11457432" cy="475488"/>
          </a:xfrm>
          <a:prstGeom prst="rect">
            <a:avLst/>
          </a:prstGeom>
          <a:solidFill>
            <a:srgbClr val="F6F7FA"/>
          </a:solidFill>
          <a:ln cap="flat" cmpd="sng" w="12700">
            <a:solidFill>
              <a:srgbClr val="D2D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868680" y="5815584"/>
            <a:ext cx="10698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1531"/>
              </a:buClr>
              <a:buSzPts val="1200"/>
              <a:buFont typeface="Play"/>
              <a:buNone/>
            </a:pPr>
            <a:r>
              <a:rPr b="1" lang="en-US" sz="1200">
                <a:solidFill>
                  <a:srgbClr val="B41531"/>
                </a:solidFill>
                <a:latin typeface="Play"/>
                <a:ea typeface="Play"/>
                <a:cs typeface="Play"/>
                <a:sym typeface="Play"/>
              </a:rPr>
              <a:t>Total Products Shown in Marketplace: —</a:t>
            </a:r>
            <a:endParaRPr sz="12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23 Jestha 2083 - 29 Jestha 2083 (June 5, 2026 - June 12, 2026)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QUALITY CONTROL WEEKLY REPORT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193" name="Google Shape;1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/>
          <p:nvPr/>
        </p:nvSpPr>
        <p:spPr>
          <a:xfrm>
            <a:off x="365760" y="932688"/>
            <a:ext cx="3794760" cy="5303520"/>
          </a:xfrm>
          <a:prstGeom prst="rect">
            <a:avLst/>
          </a:prstGeom>
          <a:solidFill>
            <a:srgbClr val="F4F4F6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365760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365760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PREVIOUS Week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94360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813816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Approved: 1,200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594360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813816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Rejected: 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94360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813816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Pending: 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361688" y="932688"/>
            <a:ext cx="3794760" cy="5303520"/>
          </a:xfrm>
          <a:prstGeom prst="rect">
            <a:avLst/>
          </a:prstGeom>
          <a:solidFill>
            <a:srgbClr val="F5ECEF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4361688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4361688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CURRENT STATUS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590288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809744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Approved: 1,400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590288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4809744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Rejected: 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590288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809744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Pending: 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8357616" y="932688"/>
            <a:ext cx="3794760" cy="5303520"/>
          </a:xfrm>
          <a:prstGeom prst="rect">
            <a:avLst/>
          </a:prstGeom>
          <a:solidFill>
            <a:srgbClr val="F4F4F6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8357616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8357616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NEXT WEEK TARGET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8586216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8805672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Approved: 1,600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8586216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8805672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Rejected: 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8586216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8805672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Pending: 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23 Jestha 2083 - 29 Jestha 2083 (June 5, 2026 - June 12, 2026)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KPI OVERVIEW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231" name="Google Shape;2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0"/>
          <p:cNvSpPr/>
          <p:nvPr/>
        </p:nvSpPr>
        <p:spPr>
          <a:xfrm>
            <a:off x="365760" y="1005840"/>
            <a:ext cx="5715000" cy="3886200"/>
          </a:xfrm>
          <a:prstGeom prst="rect">
            <a:avLst/>
          </a:prstGeom>
          <a:solidFill>
            <a:srgbClr val="F6F6F8"/>
          </a:solidFill>
          <a:ln cap="flat" cmpd="sng" w="12700">
            <a:solidFill>
              <a:srgbClr val="E1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1325880" y="117043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7F1D1D"/>
                </a:solidFill>
                <a:latin typeface="Play"/>
                <a:ea typeface="Play"/>
                <a:cs typeface="Play"/>
                <a:sym typeface="Play"/>
              </a:rPr>
              <a:t>Business Development - KPI Metrics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6236208" y="1005840"/>
            <a:ext cx="5577840" cy="3886200"/>
          </a:xfrm>
          <a:prstGeom prst="rect">
            <a:avLst/>
          </a:prstGeom>
          <a:solidFill>
            <a:srgbClr val="F6F6F8"/>
          </a:solidFill>
          <a:ln cap="flat" cmpd="sng" w="12700">
            <a:solidFill>
              <a:srgbClr val="E1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7772400" y="11704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7F1D1D"/>
                </a:solidFill>
                <a:latin typeface="Play"/>
                <a:ea typeface="Play"/>
                <a:cs typeface="Play"/>
                <a:sym typeface="Play"/>
              </a:rPr>
              <a:t>Listing Metrics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236" name="Google Shape;23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1508760"/>
            <a:ext cx="5257800" cy="2834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6520" y="1508760"/>
            <a:ext cx="516636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23 Jestha 2083 - 29 Jestha 2083 (June 5, 2026 - June 12, 2026)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/>
          <p:nvPr/>
        </p:nvSpPr>
        <p:spPr>
          <a:xfrm>
            <a:off x="8183880" y="896112"/>
            <a:ext cx="3291840" cy="3291840"/>
          </a:xfrm>
          <a:prstGeom prst="ellipse">
            <a:avLst/>
          </a:prstGeom>
          <a:solidFill>
            <a:srgbClr val="F6F8FC"/>
          </a:solidFill>
          <a:ln cap="flat" cmpd="sng" w="12700">
            <a:solidFill>
              <a:srgbClr val="F6F8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8778240" y="4251960"/>
            <a:ext cx="2286000" cy="2286000"/>
          </a:xfrm>
          <a:prstGeom prst="ellipse">
            <a:avLst/>
          </a:prstGeom>
          <a:solidFill>
            <a:srgbClr val="F2F5FB"/>
          </a:solidFill>
          <a:ln cap="flat" cmpd="sng" w="12700">
            <a:solidFill>
              <a:srgbClr val="F2F5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9" name="Google Shape;2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126" y="530352"/>
            <a:ext cx="3985708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/>
          <p:nvPr/>
        </p:nvSpPr>
        <p:spPr>
          <a:xfrm>
            <a:off x="1024128" y="135331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000"/>
              <a:buFont typeface="Play"/>
              <a:buNone/>
            </a:pPr>
            <a:r>
              <a:rPr b="1" lang="en-US" sz="1000">
                <a:solidFill>
                  <a:srgbClr val="7F1D1D"/>
                </a:solidFill>
                <a:latin typeface="Play"/>
                <a:ea typeface="Play"/>
                <a:cs typeface="Play"/>
                <a:sym typeface="Play"/>
              </a:rPr>
              <a:t>REPORT CLOSURE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1005840" y="1627632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800"/>
              <a:buFont typeface="Quattrocento Sans"/>
              <a:buNone/>
            </a:pPr>
            <a:r>
              <a:rPr b="1" lang="en-US" sz="3800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 sz="38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1005840" y="2450592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2000"/>
              <a:buFont typeface="Exo"/>
              <a:buNone/>
            </a:pPr>
            <a:r>
              <a:rPr lang="en-US" sz="2000">
                <a:solidFill>
                  <a:srgbClr val="4B5563"/>
                </a:solidFill>
                <a:latin typeface="Exo"/>
                <a:ea typeface="Exo"/>
                <a:cs typeface="Exo"/>
                <a:sym typeface="Exo"/>
              </a:rPr>
              <a:t>Weekly Report | 23 Jestha 2083 - 29 Jestha 2083 (June 5, 2026 - June 12, 2026)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1005840" y="2852928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Exo"/>
              <a:buNone/>
            </a:pPr>
            <a:r>
              <a:rPr lang="en-US" sz="1200">
                <a:solidFill>
                  <a:srgbClr val="9CA3AF"/>
                </a:solidFill>
                <a:latin typeface="Exo"/>
                <a:ea typeface="Exo"/>
                <a:cs typeface="Exo"/>
                <a:sym typeface="Exo"/>
              </a:rPr>
              <a:t>Summary</a:t>
            </a:r>
            <a:endParaRPr sz="12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868680" y="3310128"/>
            <a:ext cx="2359152" cy="98755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868680" y="3493008"/>
            <a:ext cx="2359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398</a:t>
            </a:r>
            <a:endParaRPr sz="2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868680" y="3931920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E8EB"/>
              </a:buClr>
              <a:buSzPts val="1200"/>
              <a:buFont typeface="Exo"/>
              <a:buNone/>
            </a:pPr>
            <a:r>
              <a:rPr lang="en-US" sz="1200">
                <a:solidFill>
                  <a:srgbClr val="F9E8EB"/>
                </a:solidFill>
                <a:latin typeface="Exo"/>
                <a:ea typeface="Exo"/>
                <a:cs typeface="Exo"/>
                <a:sym typeface="Exo"/>
              </a:rPr>
              <a:t>Total Vendors</a:t>
            </a:r>
            <a:endParaRPr sz="12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3593592" y="3310128"/>
            <a:ext cx="2359152" cy="98755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3593592" y="3493008"/>
            <a:ext cx="2359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69,633</a:t>
            </a:r>
            <a:endParaRPr sz="2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3593592" y="3931920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E8EB"/>
              </a:buClr>
              <a:buSzPts val="1200"/>
              <a:buFont typeface="Exo"/>
              <a:buNone/>
            </a:pPr>
            <a:r>
              <a:rPr lang="en-US" sz="1200">
                <a:solidFill>
                  <a:srgbClr val="F9E8EB"/>
                </a:solidFill>
                <a:latin typeface="Exo"/>
                <a:ea typeface="Exo"/>
                <a:cs typeface="Exo"/>
                <a:sym typeface="Exo"/>
              </a:rPr>
              <a:t>Total Marketplace Products</a:t>
            </a:r>
            <a:endParaRPr sz="12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6318504" y="3310128"/>
            <a:ext cx="2359152" cy="98755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6318504" y="3493008"/>
            <a:ext cx="2359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225</a:t>
            </a:r>
            <a:endParaRPr sz="2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6318504" y="3931920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E8EB"/>
              </a:buClr>
              <a:buSzPts val="1200"/>
              <a:buFont typeface="Exo"/>
              <a:buNone/>
            </a:pPr>
            <a:r>
              <a:rPr lang="en-US" sz="1200">
                <a:solidFill>
                  <a:srgbClr val="F9E8EB"/>
                </a:solidFill>
                <a:latin typeface="Exo"/>
                <a:ea typeface="Exo"/>
                <a:cs typeface="Exo"/>
                <a:sym typeface="Exo"/>
              </a:rPr>
              <a:t>Daily Average Listings</a:t>
            </a:r>
            <a:endParaRPr sz="12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1005840" y="592531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Exo"/>
              <a:buNone/>
            </a:pPr>
            <a:r>
              <a:rPr i="1" lang="en-US" sz="1400">
                <a:solidFill>
                  <a:srgbClr val="6B7280"/>
                </a:solidFill>
                <a:latin typeface="Exo"/>
                <a:ea typeface="Exo"/>
                <a:cs typeface="Exo"/>
                <a:sym typeface="Exo"/>
              </a:rPr>
              <a:t>Next Review: May 23, 2026  |  nepalcan.com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8778240" y="960120"/>
            <a:ext cx="4206240" cy="2651760"/>
          </a:xfrm>
          <a:prstGeom prst="roundRect">
            <a:avLst>
              <a:gd fmla="val 16667" name="adj"/>
            </a:avLst>
          </a:prstGeom>
          <a:solidFill>
            <a:srgbClr val="FDE8EE">
              <a:alpha val="65882"/>
            </a:srgbClr>
          </a:solidFill>
          <a:ln cap="flat" cmpd="sng" w="12700">
            <a:solidFill>
              <a:srgbClr val="FDE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-594360" y="4343400"/>
            <a:ext cx="3840480" cy="2560320"/>
          </a:xfrm>
          <a:prstGeom prst="roundRect">
            <a:avLst>
              <a:gd fmla="val 16667" name="adj"/>
            </a:avLst>
          </a:prstGeom>
          <a:solidFill>
            <a:srgbClr val="E9EEF9">
              <a:alpha val="63921"/>
            </a:srgbClr>
          </a:solidFill>
          <a:ln cap="flat" cmpd="sng" w="12700">
            <a:solidFill>
              <a:srgbClr val="E9EE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566928" y="16459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Listing Report</a:t>
            </a:r>
            <a:endParaRPr sz="18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89" name="Google Shape;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9529" y="128016"/>
            <a:ext cx="2554941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/>
          <p:nvPr/>
        </p:nvSpPr>
        <p:spPr>
          <a:xfrm>
            <a:off x="0" y="713232"/>
            <a:ext cx="12191695" cy="5641848"/>
          </a:xfrm>
          <a:prstGeom prst="rect">
            <a:avLst/>
          </a:prstGeom>
          <a:solidFill>
            <a:srgbClr val="FCFDFF"/>
          </a:solidFill>
          <a:ln cap="flat" cmpd="sng" w="12700">
            <a:solidFill>
              <a:srgbClr val="FCF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20605" y="946408"/>
            <a:ext cx="11375100" cy="5047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AF2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• We were busy in collecting the listing names.
• we wont be doing this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23 Jestha 2083 - 29 Jestha 2083 (June 5, 2026 - June 12, 2026)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6420689" y="1706208"/>
            <a:ext cx="5348177" cy="4128439"/>
          </a:xfrm>
          <a:prstGeom prst="roundRect">
            <a:avLst>
              <a:gd fmla="val 935" name="adj"/>
            </a:avLst>
          </a:prstGeom>
          <a:solidFill>
            <a:srgbClr val="F5F5F7"/>
          </a:solidFill>
          <a:ln cap="flat" cmpd="sng" w="12700">
            <a:solidFill>
              <a:srgbClr val="D6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Quality Control - PROGRESS CHART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71" name="Google Shape;7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457200" y="1706208"/>
            <a:ext cx="5811089" cy="4128439"/>
          </a:xfrm>
          <a:prstGeom prst="roundRect">
            <a:avLst>
              <a:gd fmla="val 935" name="adj"/>
            </a:avLst>
          </a:prstGeom>
          <a:solidFill>
            <a:srgbClr val="F5F5F7"/>
          </a:solidFill>
          <a:ln cap="flat" cmpd="sng" w="12700">
            <a:solidFill>
              <a:srgbClr val="D6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66928" y="1902727"/>
            <a:ext cx="67116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1531"/>
              </a:buClr>
              <a:buSzPts val="1300"/>
              <a:buFont typeface="Play"/>
              <a:buNone/>
            </a:pPr>
            <a:r>
              <a:rPr b="1" lang="en-US" sz="1300">
                <a:solidFill>
                  <a:srgbClr val="B41531"/>
                </a:solidFill>
                <a:latin typeface="Play"/>
                <a:ea typeface="Play"/>
                <a:cs typeface="Play"/>
                <a:sym typeface="Play"/>
              </a:rPr>
              <a:t>Products Approved</a:t>
            </a:r>
            <a:endParaRPr sz="13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74" name="Google Shape;7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824770"/>
            <a:ext cx="600922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23 Jestha 2083 - 29 Jestha 2083 (June 5, 2026 - June 12, 2026)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78" name="Google Shape;7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0700" y="1866850"/>
            <a:ext cx="5771300" cy="39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 txBox="1"/>
          <p:nvPr/>
        </p:nvSpPr>
        <p:spPr>
          <a:xfrm>
            <a:off x="6718025" y="1902725"/>
            <a:ext cx="20871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B91C1C"/>
                </a:solidFill>
                <a:latin typeface="Play"/>
                <a:ea typeface="Play"/>
                <a:cs typeface="Play"/>
                <a:sym typeface="Play"/>
              </a:rPr>
              <a:t>Products Rejected</a:t>
            </a:r>
            <a:endParaRPr b="1" sz="1300">
              <a:solidFill>
                <a:srgbClr val="B91C1C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8778240" y="960120"/>
            <a:ext cx="4206240" cy="2651760"/>
          </a:xfrm>
          <a:prstGeom prst="roundRect">
            <a:avLst>
              <a:gd fmla="val 16667" name="adj"/>
            </a:avLst>
          </a:prstGeom>
          <a:solidFill>
            <a:srgbClr val="FDE8EE">
              <a:alpha val="65882"/>
            </a:srgbClr>
          </a:solidFill>
          <a:ln cap="flat" cmpd="sng" w="12700">
            <a:solidFill>
              <a:srgbClr val="FDE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-594360" y="4343400"/>
            <a:ext cx="3840480" cy="2560320"/>
          </a:xfrm>
          <a:prstGeom prst="roundRect">
            <a:avLst>
              <a:gd fmla="val 16667" name="adj"/>
            </a:avLst>
          </a:prstGeom>
          <a:solidFill>
            <a:srgbClr val="E9EEF9">
              <a:alpha val="63921"/>
            </a:srgbClr>
          </a:solidFill>
          <a:ln cap="flat" cmpd="sng" w="12700">
            <a:solidFill>
              <a:srgbClr val="E9EE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566928" y="16459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Quality Control Report</a:t>
            </a:r>
            <a:endParaRPr sz="18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89" name="Google Shape;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9529" y="128016"/>
            <a:ext cx="2554941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/>
          <p:nvPr/>
        </p:nvSpPr>
        <p:spPr>
          <a:xfrm>
            <a:off x="0" y="713232"/>
            <a:ext cx="12191695" cy="5641848"/>
          </a:xfrm>
          <a:prstGeom prst="rect">
            <a:avLst/>
          </a:prstGeom>
          <a:solidFill>
            <a:srgbClr val="FCFDFF"/>
          </a:solidFill>
          <a:ln cap="flat" cmpd="sng" w="12700">
            <a:solidFill>
              <a:srgbClr val="FCF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20605" y="946408"/>
            <a:ext cx="11375100" cy="5047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AF2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• We were busy in collecting the qality names.
• we wont be doing this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23 Jestha 2083 - 29 Jestha 2083 (June 5, 2026 - June 12, 2026)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